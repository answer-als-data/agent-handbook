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8300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55</c:v>
                </c:pt>
                <c:pt idx="2">
                  <c:v>30</c:v>
                </c:pt>
                <c:pt idx="3">
                  <c:v>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E87BA4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35</c:v>
                </c:pt>
                <c:pt idx="1">
                  <c:v>48</c:v>
                </c:pt>
                <c:pt idx="2">
                  <c:v>42</c:v>
                </c:pt>
                <c:pt idx="3">
                  <c:v>50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4A3AA7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20</c:v>
                </c:pt>
                <c:pt idx="1">
                  <c:v>26</c:v>
                </c:pt>
                <c:pt idx="2">
                  <c:v>38</c:v>
                </c:pt>
                <c:pt idx="3">
                  <c:v>33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600" b="0">
                    <a:solidFill>
                      <a:srgbClr val="6A7683"/>
                    </a:solidFill>
                    <a:latin typeface="Helvetica Neue"/>
                  </a:rPr>
                  <a:t>Category axis label in sentence case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D9E1EA"/>
            </a:solidFill>
          </a:ln>
        </c:spPr>
        <c:txPr>
          <a:bodyPr/>
          <a:lstStyle/>
          <a:p>
            <a:pPr>
              <a:defRPr sz="1600">
                <a:solidFill>
                  <a:srgbClr val="6A768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E1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600" b="0">
                    <a:solidFill>
                      <a:srgbClr val="6A7683"/>
                    </a:solidFill>
                    <a:latin typeface="Helvetica Neue"/>
                  </a:rPr>
                  <a:t>Value with its unit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D9E1EA"/>
            </a:solidFill>
          </a:ln>
        </c:spPr>
        <c:txPr>
          <a:bodyPr/>
          <a:lstStyle/>
          <a:p>
            <a:pPr>
              <a:defRPr sz="1600">
                <a:solidFill>
                  <a:srgbClr val="6A7683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600">
          <a:solidFill>
            <a:srgbClr val="6A7683"/>
          </a:solidFill>
          <a:latin typeface="Helvetica Neue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slide: brand blue, logo top left, one headline under 10 words and the presenter line, nothing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divider: one headline on brand blue to mark a new part of the talk, no logo and no other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 plus text: one point and up to four short lines that support it; if you need more lines, split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column: compare two things, before and after or this and that, with the same number of lines on each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 plus image: one screenshot or photo on the right with a caption, and the headline on the left says why it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Table: at most 5 rows and 4 columns with plain word headers, numbers right aligned, and a source line under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Chart: one native chart in the palette colors in order, at most six series, every axis labeled with its unit and a source line under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Numbers: three published figures at most, each with a short label, and a source line naming where they were published.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Quote or takeaway: one sentence set large with nothing else on the slide but its attribution.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slide: brand blue, logo top left, one action for the audience and the presenter line, the mirror of the title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FA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nswer-als-logo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85800"/>
            <a:ext cx="68580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83080" y="685800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spc="200">
                <a:solidFill>
                  <a:srgbClr val="C4D9FF"/>
                </a:solidFill>
                <a:latin typeface="Helvetica Neue"/>
              </a:rPr>
              <a:t>Program </a:t>
            </a:r>
            <a:r>
              <a:rPr sz="1400" b="0" spc="200">
                <a:solidFill>
                  <a:srgbClr val="C4D9FF"/>
                </a:solidFill>
                <a:latin typeface="Helvetica Neue"/>
              </a:rPr>
              <a:t>and event, 2 to 4 words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377440"/>
            <a:ext cx="822960" cy="64008"/>
          </a:xfrm>
          <a:prstGeom prst="rect">
            <a:avLst/>
          </a:prstGeom>
          <a:solidFill>
            <a:srgbClr val="C4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FFFFFF"/>
                </a:solidFill>
                <a:latin typeface="Helvetica Neue"/>
              </a:rPr>
              <a:t>Title: the point of the talk in under 10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406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C4D9FF"/>
                </a:solidFill>
                <a:latin typeface="Helvetica Neue"/>
              </a:rPr>
              <a:t>Presenter name, role and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FA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377440"/>
            <a:ext cx="822960" cy="64008"/>
          </a:xfrm>
          <a:prstGeom prst="rect">
            <a:avLst/>
          </a:prstGeom>
          <a:solidFill>
            <a:srgbClr val="C4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FFFFFF"/>
                </a:solidFill>
                <a:latin typeface="Helvetica Neue"/>
              </a:rPr>
              <a:t>Section divider: name the next part in under 8 words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spc="200">
                <a:solidFill>
                  <a:srgbClr val="1F4FAE"/>
                </a:solidFill>
                <a:latin typeface="Helvetica Neue"/>
              </a:rPr>
              <a:t>TOPIC, 2 TO 4 WORDS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43000"/>
            <a:ext cx="822960" cy="64008"/>
          </a:xfrm>
          <a:prstGeom prst="rect">
            <a:avLst/>
          </a:prstGeom>
          <a:solidFill>
            <a:srgbClr val="1F4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19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1A2332"/>
                </a:solidFill>
                <a:latin typeface="Helvetica Neue"/>
              </a:rPr>
              <a:t>Headline states the point in under 10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26364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>
                <a:solidFill>
                  <a:srgbClr val="6E7581"/>
                </a:solidFill>
                <a:latin typeface="Helvetica Ne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100584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2C3E50"/>
                </a:solidFill>
                <a:latin typeface="Helvetica Neue"/>
              </a:rPr>
              <a:t>Up to four short lines, 8 words or fewer each</a:t>
            </a:r>
          </a:p>
          <a:p>
            <a:pPr algn="l">
              <a:lnSpc>
                <a:spcPct val="105000"/>
              </a:lnSpc>
              <a:spcBef>
                <a:spcPts val="1400"/>
              </a:spcBef>
            </a:pPr>
            <a:r>
              <a:rPr sz="2200" b="0">
                <a:solidFill>
                  <a:srgbClr val="2C3E50"/>
                </a:solidFill>
                <a:latin typeface="Helvetica Neue"/>
              </a:rPr>
              <a:t>Each line backs up the headline</a:t>
            </a:r>
          </a:p>
          <a:p>
            <a:pPr algn="l">
              <a:lnSpc>
                <a:spcPct val="105000"/>
              </a:lnSpc>
              <a:spcBef>
                <a:spcPts val="1400"/>
              </a:spcBef>
            </a:pPr>
            <a:r>
              <a:rPr sz="2200" b="0">
                <a:solidFill>
                  <a:srgbClr val="2C3E50"/>
                </a:solidFill>
                <a:latin typeface="Helvetica Neue"/>
              </a:rPr>
              <a:t>Plain sentences, no bullets or sub-points</a:t>
            </a:r>
          </a:p>
          <a:p>
            <a:pPr algn="l">
              <a:lnSpc>
                <a:spcPct val="105000"/>
              </a:lnSpc>
              <a:spcBef>
                <a:spcPts val="1400"/>
              </a:spcBef>
            </a:pPr>
            <a:r>
              <a:rPr sz="2200" b="0">
                <a:solidFill>
                  <a:srgbClr val="2C3E50"/>
                </a:solidFill>
                <a:latin typeface="Helvetica Neue"/>
              </a:rPr>
              <a:t>Cut a line before you shrink the 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spc="200">
                <a:solidFill>
                  <a:srgbClr val="1F4FAE"/>
                </a:solidFill>
                <a:latin typeface="Helvetica Neue"/>
              </a:rPr>
              <a:t>COMPARISON, 2 TO 4 WORDS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43000"/>
            <a:ext cx="822960" cy="64008"/>
          </a:xfrm>
          <a:prstGeom prst="rect">
            <a:avLst/>
          </a:prstGeom>
          <a:solidFill>
            <a:srgbClr val="1F4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19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1A2332"/>
                </a:solidFill>
                <a:latin typeface="Helvetica Neue"/>
              </a:rPr>
              <a:t>Two columns compare two things side by 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26364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>
                <a:solidFill>
                  <a:srgbClr val="6E7581"/>
                </a:solidFill>
                <a:latin typeface="Helvetica Ne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49377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C3E50"/>
                </a:solidFill>
                <a:latin typeface="Helvetica Neue"/>
              </a:rPr>
              <a:t>Left label, 1 to 3 words</a:t>
            </a:r>
          </a:p>
          <a:p>
            <a:pPr algn="l">
              <a:lnSpc>
                <a:spcPct val="105000"/>
              </a:lnSpc>
              <a:spcBef>
                <a:spcPts val="1400"/>
              </a:spcBef>
            </a:pPr>
            <a:r>
              <a:rPr sz="2200" b="0">
                <a:solidFill>
                  <a:srgbClr val="2C3E50"/>
                </a:solidFill>
                <a:latin typeface="Helvetica Neue"/>
              </a:rPr>
              <a:t>Up to three short lines</a:t>
            </a:r>
          </a:p>
          <a:p>
            <a:pPr algn="l">
              <a:lnSpc>
                <a:spcPct val="105000"/>
              </a:lnSpc>
              <a:spcBef>
                <a:spcPts val="1400"/>
              </a:spcBef>
            </a:pPr>
            <a:r>
              <a:rPr sz="2200" b="0">
                <a:solidFill>
                  <a:srgbClr val="2C3E50"/>
                </a:solidFill>
                <a:latin typeface="Helvetica Neue"/>
              </a:rPr>
              <a:t>Same order of points as the right</a:t>
            </a:r>
          </a:p>
          <a:p>
            <a:pPr algn="l">
              <a:lnSpc>
                <a:spcPct val="105000"/>
              </a:lnSpc>
              <a:spcBef>
                <a:spcPts val="1400"/>
              </a:spcBef>
            </a:pPr>
            <a:r>
              <a:rPr sz="2200" b="0">
                <a:solidFill>
                  <a:srgbClr val="2C3E50"/>
                </a:solidFill>
                <a:latin typeface="Helvetica Neue"/>
              </a:rPr>
              <a:t>8 words or fewer per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3017520"/>
            <a:ext cx="49377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C3E50"/>
                </a:solidFill>
                <a:latin typeface="Helvetica Neue"/>
              </a:rPr>
              <a:t>Right label, 1 to 3 words</a:t>
            </a:r>
          </a:p>
          <a:p>
            <a:pPr algn="l">
              <a:lnSpc>
                <a:spcPct val="105000"/>
              </a:lnSpc>
              <a:spcBef>
                <a:spcPts val="1400"/>
              </a:spcBef>
            </a:pPr>
            <a:r>
              <a:rPr sz="2200" b="0">
                <a:solidFill>
                  <a:srgbClr val="2C3E50"/>
                </a:solidFill>
                <a:latin typeface="Helvetica Neue"/>
              </a:rPr>
              <a:t>Up to three short lines</a:t>
            </a:r>
          </a:p>
          <a:p>
            <a:pPr algn="l">
              <a:lnSpc>
                <a:spcPct val="105000"/>
              </a:lnSpc>
              <a:spcBef>
                <a:spcPts val="1400"/>
              </a:spcBef>
            </a:pPr>
            <a:r>
              <a:rPr sz="2200" b="0">
                <a:solidFill>
                  <a:srgbClr val="2C3E50"/>
                </a:solidFill>
                <a:latin typeface="Helvetica Neue"/>
              </a:rPr>
              <a:t>Match each line to the left</a:t>
            </a:r>
          </a:p>
          <a:p>
            <a:pPr algn="l">
              <a:lnSpc>
                <a:spcPct val="105000"/>
              </a:lnSpc>
              <a:spcBef>
                <a:spcPts val="1400"/>
              </a:spcBef>
            </a:pPr>
            <a:r>
              <a:rPr sz="2200" b="0">
                <a:solidFill>
                  <a:srgbClr val="2C3E50"/>
                </a:solidFill>
                <a:latin typeface="Helvetica Neue"/>
              </a:rPr>
              <a:t>Keep both columns the same length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spc="200">
                <a:solidFill>
                  <a:srgbClr val="1F4FAE"/>
                </a:solidFill>
                <a:latin typeface="Helvetica Neue"/>
              </a:rPr>
              <a:t>TOPIC, 2 TO 4 WORDS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057400"/>
            <a:ext cx="822960" cy="64008"/>
          </a:xfrm>
          <a:prstGeom prst="rect">
            <a:avLst/>
          </a:prstGeom>
          <a:solidFill>
            <a:srgbClr val="1F4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1A2332"/>
                </a:solidFill>
                <a:latin typeface="Helvetica Neue"/>
              </a:rPr>
              <a:t>Headline left says what the picture shows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26364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>
                <a:solidFill>
                  <a:srgbClr val="6E7581"/>
                </a:solidFill>
                <a:latin typeface="Helvetica Ne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2C3E50"/>
                </a:solidFill>
                <a:latin typeface="Helvetica Neue"/>
              </a:rPr>
              <a:t>One short line on what to look at, 12 words at most</a:t>
            </a:r>
          </a:p>
        </p:txBody>
      </p:sp>
      <p:sp>
        <p:nvSpPr>
          <p:cNvPr id="8" name="Picture slot"/>
          <p:cNvSpPr/>
          <p:nvPr/>
        </p:nvSpPr>
        <p:spPr>
          <a:xfrm>
            <a:off x="6126480" y="822960"/>
            <a:ext cx="5394960" cy="4572000"/>
          </a:xfrm>
          <a:prstGeom prst="rect">
            <a:avLst/>
          </a:prstGeom>
          <a:solidFill>
            <a:srgbClr val="EEF4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6E7581"/>
                </a:solidFill>
                <a:latin typeface="Helvetica Neue"/>
              </a:rPr>
              <a:t>Picture slot</a:t>
            </a:r>
          </a:p>
          <a:p>
            <a:pPr algn="ctr"/>
            <a:r>
              <a:rPr sz="1600" b="0">
                <a:solidFill>
                  <a:srgbClr val="6E7581"/>
                </a:solidFill>
                <a:latin typeface="Helvetica Neue"/>
              </a:rPr>
              <a:t>Delete this box and insert one screenshot or photo here.</a:t>
            </a:r>
          </a:p>
          <a:p>
            <a:pPr algn="ctr"/>
            <a:r>
              <a:rPr sz="1600" b="0">
                <a:solidFill>
                  <a:srgbClr val="6E7581"/>
                </a:solidFill>
                <a:latin typeface="Helvetica Neue"/>
              </a:rPr>
              <a:t>Keep its sides locked and frame it with a thin rule 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53212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4B5563"/>
                </a:solidFill>
                <a:latin typeface="Helvetica Neue"/>
              </a:rPr>
              <a:t>Caption: what the picture is and where it came from, one sentence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spc="200">
                <a:solidFill>
                  <a:srgbClr val="1F4FAE"/>
                </a:solidFill>
                <a:latin typeface="Helvetica Neue"/>
              </a:rPr>
              <a:t>TABLE, 2 TO 4 WORDS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43000"/>
            <a:ext cx="822960" cy="64008"/>
          </a:xfrm>
          <a:prstGeom prst="rect">
            <a:avLst/>
          </a:prstGeom>
          <a:solidFill>
            <a:srgbClr val="1F4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19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1A2332"/>
                </a:solidFill>
                <a:latin typeface="Helvetica Neue"/>
              </a:rPr>
              <a:t>Headline says what the table shows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26364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>
                <a:solidFill>
                  <a:srgbClr val="6E7581"/>
                </a:solidFill>
                <a:latin typeface="Helvetica Neue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651760"/>
          <a:ext cx="10515600" cy="27432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103120"/>
                <a:gridCol w="5120640"/>
                <a:gridCol w="1645920"/>
                <a:gridCol w="164592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A2332"/>
                          </a:solidFill>
                          <a:latin typeface="Helvetica Neue"/>
                        </a:rPr>
                        <a:t>Column</a:t>
                      </a:r>
                    </a:p>
                  </a:txBody>
                  <a:tcPr marL="109728" marR="109728" anchor="ctr">
                    <a:lnL w="12700">
                      <a:solidFill>
                        <a:srgbClr val="DFE3EB"/>
                      </a:solidFill>
                    </a:lnL>
                    <a:lnR w="12700">
                      <a:solidFill>
                        <a:srgbClr val="DFE3EB"/>
                      </a:solidFill>
                    </a:lnR>
                    <a:lnT w="12700">
                      <a:solidFill>
                        <a:srgbClr val="DFE3EB"/>
                      </a:solidFill>
                    </a:lnT>
                    <a:lnB w="12700">
                      <a:solidFill>
                        <a:srgbClr val="D8DCE5"/>
                      </a:solidFill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A2332"/>
                          </a:solidFill>
                          <a:latin typeface="Helvetica Neue"/>
                        </a:rPr>
                        <a:t>What goes here</a:t>
                      </a:r>
                    </a:p>
                  </a:txBody>
                  <a:tcPr marL="109728" marR="109728" anchor="ctr">
                    <a:lnL w="12700">
                      <a:solidFill>
                        <a:srgbClr val="DFE3EB"/>
                      </a:solidFill>
                    </a:lnL>
                    <a:lnR w="12700">
                      <a:solidFill>
                        <a:srgbClr val="DFE3EB"/>
                      </a:solidFill>
                    </a:lnR>
                    <a:lnT w="12700">
                      <a:solidFill>
                        <a:srgbClr val="DFE3EB"/>
                      </a:solidFill>
                    </a:lnT>
                    <a:lnB w="12700">
                      <a:solidFill>
                        <a:srgbClr val="D8DCE5"/>
                      </a:solidFill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A2332"/>
                          </a:solidFill>
                          <a:latin typeface="Helvetica Neue"/>
                        </a:rPr>
                        <a:t>Max words</a:t>
                      </a:r>
                    </a:p>
                  </a:txBody>
                  <a:tcPr marL="109728" marR="109728" anchor="ctr">
                    <a:lnL w="12700">
                      <a:solidFill>
                        <a:srgbClr val="DFE3EB"/>
                      </a:solidFill>
                    </a:lnL>
                    <a:lnR w="12700">
                      <a:solidFill>
                        <a:srgbClr val="DFE3EB"/>
                      </a:solidFill>
                    </a:lnR>
                    <a:lnT w="12700">
                      <a:solidFill>
                        <a:srgbClr val="DFE3EB"/>
                      </a:solidFill>
                    </a:lnT>
                    <a:lnB w="12700">
                      <a:solidFill>
                        <a:srgbClr val="D8DCE5"/>
                      </a:solidFill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A2332"/>
                          </a:solidFill>
                          <a:latin typeface="Helvetica Neue"/>
                        </a:rPr>
                        <a:t>Align</a:t>
                      </a:r>
                    </a:p>
                  </a:txBody>
                  <a:tcPr marL="109728" marR="109728" anchor="ctr">
                    <a:lnL w="12700">
                      <a:solidFill>
                        <a:srgbClr val="DFE3EB"/>
                      </a:solidFill>
                    </a:lnL>
                    <a:lnR w="12700">
                      <a:solidFill>
                        <a:srgbClr val="DFE3EB"/>
                      </a:solidFill>
                    </a:lnR>
                    <a:lnT w="12700">
                      <a:solidFill>
                        <a:srgbClr val="DFE3EB"/>
                      </a:solidFill>
                    </a:lnT>
                    <a:lnB w="12700">
                      <a:solidFill>
                        <a:srgbClr val="D8DCE5"/>
                      </a:solidFill>
                    </a:lnB>
                    <a:solidFill>
                      <a:srgbClr val="EEF4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74151"/>
                          </a:solidFill>
                          <a:latin typeface="Helvetica Neue"/>
                        </a:rPr>
                        <a:t>Label</a:t>
                      </a:r>
                    </a:p>
                  </a:txBody>
                  <a:tcPr marL="109728" marR="109728" anchor="ctr">
                    <a:lnL w="12700">
                      <a:solidFill>
                        <a:srgbClr val="DFE3EB"/>
                      </a:solidFill>
                    </a:lnL>
                    <a:lnR w="12700">
                      <a:solidFill>
                        <a:srgbClr val="DFE3EB"/>
                      </a:solidFill>
                    </a:lnR>
                    <a:lnT w="12700">
                      <a:solidFill>
                        <a:srgbClr val="D8DCE5"/>
                      </a:solidFill>
                    </a:lnT>
                    <a:lnB w="12700">
                      <a:solidFill>
                        <a:srgbClr val="DFE3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74151"/>
                          </a:solidFill>
                          <a:latin typeface="Helvetica Neue"/>
                        </a:rPr>
                        <a:t>Plain words, never a raw column name</a:t>
                      </a:r>
                    </a:p>
                  </a:txBody>
                  <a:tcPr marL="109728" marR="109728" anchor="ctr">
                    <a:lnL w="12700">
                      <a:solidFill>
                        <a:srgbClr val="DFE3EB"/>
                      </a:solidFill>
                    </a:lnL>
                    <a:lnR w="12700">
                      <a:solidFill>
                        <a:srgbClr val="DFE3EB"/>
                      </a:solidFill>
                    </a:lnR>
                    <a:lnT w="12700">
                      <a:solidFill>
                        <a:srgbClr val="D8DCE5"/>
                      </a:solidFill>
                    </a:lnT>
                    <a:lnB w="12700">
                      <a:solidFill>
                        <a:srgbClr val="DFE3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74151"/>
                          </a:solidFill>
                          <a:latin typeface="Helvetica Neue"/>
                        </a:rPr>
                        <a:t>3</a:t>
                      </a:r>
                    </a:p>
                  </a:txBody>
                  <a:tcPr marL="109728" marR="109728" anchor="ctr">
                    <a:lnL w="12700">
                      <a:solidFill>
                        <a:srgbClr val="DFE3EB"/>
                      </a:solidFill>
                    </a:lnL>
                    <a:lnR w="12700">
                      <a:solidFill>
                        <a:srgbClr val="DFE3EB"/>
                      </a:solidFill>
                    </a:lnR>
                    <a:lnT w="12700">
                      <a:solidFill>
                        <a:srgbClr val="D8DCE5"/>
                      </a:solidFill>
                    </a:lnT>
                    <a:lnB w="12700">
                      <a:solidFill>
                        <a:srgbClr val="DFE3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74151"/>
                          </a:solidFill>
                          <a:latin typeface="Helvetica Neue"/>
                        </a:rPr>
                        <a:t>Left</a:t>
                      </a:r>
                    </a:p>
                  </a:txBody>
                  <a:tcPr marL="109728" marR="109728" anchor="ctr">
                    <a:lnL w="12700">
                      <a:solidFill>
                        <a:srgbClr val="DFE3EB"/>
                      </a:solidFill>
                    </a:lnL>
                    <a:lnR w="12700">
                      <a:solidFill>
                        <a:srgbClr val="DFE3EB"/>
                      </a:solidFill>
                    </a:lnR>
                    <a:lnT w="12700">
                      <a:solidFill>
                        <a:srgbClr val="D8DCE5"/>
                      </a:solidFill>
                    </a:lnT>
                    <a:lnB w="12700">
                      <a:solidFill>
                        <a:srgbClr val="DFE3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74151"/>
                          </a:solidFill>
                          <a:latin typeface="Helvetica Neue"/>
                        </a:rPr>
                        <a:t>Count</a:t>
                      </a:r>
                    </a:p>
                  </a:txBody>
                  <a:tcPr marL="109728" marR="109728" anchor="ctr">
                    <a:lnL w="12700">
                      <a:solidFill>
                        <a:srgbClr val="DFE3EB"/>
                      </a:solidFill>
                    </a:lnL>
                    <a:lnR w="12700">
                      <a:solidFill>
                        <a:srgbClr val="DFE3EB"/>
                      </a:solidFill>
                    </a:lnR>
                    <a:lnT w="12700">
                      <a:solidFill>
                        <a:srgbClr val="DFE3EB"/>
                      </a:solidFill>
                    </a:lnT>
                    <a:lnB w="12700">
                      <a:solidFill>
                        <a:srgbClr val="DFE3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74151"/>
                          </a:solidFill>
                          <a:latin typeface="Helvetica Neue"/>
                        </a:rPr>
                        <a:t>Numbers in one unit per column</a:t>
                      </a:r>
                    </a:p>
                  </a:txBody>
                  <a:tcPr marL="109728" marR="109728" anchor="ctr">
                    <a:lnL w="12700">
                      <a:solidFill>
                        <a:srgbClr val="DFE3EB"/>
                      </a:solidFill>
                    </a:lnL>
                    <a:lnR w="12700">
                      <a:solidFill>
                        <a:srgbClr val="DFE3EB"/>
                      </a:solidFill>
                    </a:lnR>
                    <a:lnT w="12700">
                      <a:solidFill>
                        <a:srgbClr val="DFE3EB"/>
                      </a:solidFill>
                    </a:lnT>
                    <a:lnB w="12700">
                      <a:solidFill>
                        <a:srgbClr val="DFE3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74151"/>
                          </a:solidFill>
                          <a:latin typeface="Helvetica Neue"/>
                        </a:rPr>
                        <a:t>1</a:t>
                      </a:r>
                    </a:p>
                  </a:txBody>
                  <a:tcPr marL="109728" marR="109728" anchor="ctr">
                    <a:lnL w="12700">
                      <a:solidFill>
                        <a:srgbClr val="DFE3EB"/>
                      </a:solidFill>
                    </a:lnL>
                    <a:lnR w="12700">
                      <a:solidFill>
                        <a:srgbClr val="DFE3EB"/>
                      </a:solidFill>
                    </a:lnR>
                    <a:lnT w="12700">
                      <a:solidFill>
                        <a:srgbClr val="DFE3EB"/>
                      </a:solidFill>
                    </a:lnT>
                    <a:lnB w="12700">
                      <a:solidFill>
                        <a:srgbClr val="DFE3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74151"/>
                          </a:solidFill>
                          <a:latin typeface="Helvetica Neue"/>
                        </a:rPr>
                        <a:t>Right</a:t>
                      </a:r>
                    </a:p>
                  </a:txBody>
                  <a:tcPr marL="109728" marR="109728" anchor="ctr">
                    <a:lnL w="12700">
                      <a:solidFill>
                        <a:srgbClr val="DFE3EB"/>
                      </a:solidFill>
                    </a:lnL>
                    <a:lnR w="12700">
                      <a:solidFill>
                        <a:srgbClr val="DFE3EB"/>
                      </a:solidFill>
                    </a:lnR>
                    <a:lnT w="12700">
                      <a:solidFill>
                        <a:srgbClr val="DFE3EB"/>
                      </a:solidFill>
                    </a:lnT>
                    <a:lnB w="12700">
                      <a:solidFill>
                        <a:srgbClr val="DFE3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74151"/>
                          </a:solidFill>
                          <a:latin typeface="Helvetica Neue"/>
                        </a:rPr>
                        <a:t>Release</a:t>
                      </a:r>
                    </a:p>
                  </a:txBody>
                  <a:tcPr marL="109728" marR="109728" anchor="ctr">
                    <a:lnL w="12700">
                      <a:solidFill>
                        <a:srgbClr val="DFE3EB"/>
                      </a:solidFill>
                    </a:lnL>
                    <a:lnR w="12700">
                      <a:solidFill>
                        <a:srgbClr val="DFE3EB"/>
                      </a:solidFill>
                    </a:lnR>
                    <a:lnT w="12700">
                      <a:solidFill>
                        <a:srgbClr val="DFE3EB"/>
                      </a:solidFill>
                    </a:lnT>
                    <a:lnB w="12700">
                      <a:solidFill>
                        <a:srgbClr val="DFE3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74151"/>
                          </a:solidFill>
                          <a:latin typeface="Helvetica Neue"/>
                        </a:rPr>
                        <a:t>Release name, such as Release 8</a:t>
                      </a:r>
                    </a:p>
                  </a:txBody>
                  <a:tcPr marL="109728" marR="109728" anchor="ctr">
                    <a:lnL w="12700">
                      <a:solidFill>
                        <a:srgbClr val="DFE3EB"/>
                      </a:solidFill>
                    </a:lnL>
                    <a:lnR w="12700">
                      <a:solidFill>
                        <a:srgbClr val="DFE3EB"/>
                      </a:solidFill>
                    </a:lnR>
                    <a:lnT w="12700">
                      <a:solidFill>
                        <a:srgbClr val="DFE3EB"/>
                      </a:solidFill>
                    </a:lnT>
                    <a:lnB w="12700">
                      <a:solidFill>
                        <a:srgbClr val="DFE3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74151"/>
                          </a:solidFill>
                          <a:latin typeface="Helvetica Neue"/>
                        </a:rPr>
                        <a:t>2</a:t>
                      </a:r>
                    </a:p>
                  </a:txBody>
                  <a:tcPr marL="109728" marR="109728" anchor="ctr">
                    <a:lnL w="12700">
                      <a:solidFill>
                        <a:srgbClr val="DFE3EB"/>
                      </a:solidFill>
                    </a:lnL>
                    <a:lnR w="12700">
                      <a:solidFill>
                        <a:srgbClr val="DFE3EB"/>
                      </a:solidFill>
                    </a:lnR>
                    <a:lnT w="12700">
                      <a:solidFill>
                        <a:srgbClr val="DFE3EB"/>
                      </a:solidFill>
                    </a:lnT>
                    <a:lnB w="12700">
                      <a:solidFill>
                        <a:srgbClr val="DFE3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74151"/>
                          </a:solidFill>
                          <a:latin typeface="Helvetica Neue"/>
                        </a:rPr>
                        <a:t>Left</a:t>
                      </a:r>
                    </a:p>
                  </a:txBody>
                  <a:tcPr marL="109728" marR="109728" anchor="ctr">
                    <a:lnL w="12700">
                      <a:solidFill>
                        <a:srgbClr val="DFE3EB"/>
                      </a:solidFill>
                    </a:lnL>
                    <a:lnR w="12700">
                      <a:solidFill>
                        <a:srgbClr val="DFE3EB"/>
                      </a:solidFill>
                    </a:lnR>
                    <a:lnT w="12700">
                      <a:solidFill>
                        <a:srgbClr val="DFE3EB"/>
                      </a:solidFill>
                    </a:lnT>
                    <a:lnB w="12700">
                      <a:solidFill>
                        <a:srgbClr val="DFE3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74151"/>
                          </a:solidFill>
                          <a:latin typeface="Helvetica Neue"/>
                        </a:rPr>
                        <a:t>Note</a:t>
                      </a:r>
                    </a:p>
                  </a:txBody>
                  <a:tcPr marL="109728" marR="109728" anchor="ctr">
                    <a:lnL w="12700">
                      <a:solidFill>
                        <a:srgbClr val="DFE3EB"/>
                      </a:solidFill>
                    </a:lnL>
                    <a:lnR w="12700">
                      <a:solidFill>
                        <a:srgbClr val="DFE3EB"/>
                      </a:solidFill>
                    </a:lnR>
                    <a:lnT w="12700">
                      <a:solidFill>
                        <a:srgbClr val="DFE3EB"/>
                      </a:solidFill>
                    </a:lnT>
                    <a:lnB w="12700">
                      <a:solidFill>
                        <a:srgbClr val="DFE3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74151"/>
                          </a:solidFill>
                          <a:latin typeface="Helvetica Neue"/>
                        </a:rPr>
                        <a:t>Short phrase or leave the cell empty</a:t>
                      </a:r>
                    </a:p>
                  </a:txBody>
                  <a:tcPr marL="109728" marR="109728" anchor="ctr">
                    <a:lnL w="12700">
                      <a:solidFill>
                        <a:srgbClr val="DFE3EB"/>
                      </a:solidFill>
                    </a:lnL>
                    <a:lnR w="12700">
                      <a:solidFill>
                        <a:srgbClr val="DFE3EB"/>
                      </a:solidFill>
                    </a:lnR>
                    <a:lnT w="12700">
                      <a:solidFill>
                        <a:srgbClr val="DFE3EB"/>
                      </a:solidFill>
                    </a:lnT>
                    <a:lnB w="12700">
                      <a:solidFill>
                        <a:srgbClr val="DFE3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74151"/>
                          </a:solidFill>
                          <a:latin typeface="Helvetica Neue"/>
                        </a:rPr>
                        <a:t>6</a:t>
                      </a:r>
                    </a:p>
                  </a:txBody>
                  <a:tcPr marL="109728" marR="109728" anchor="ctr">
                    <a:lnL w="12700">
                      <a:solidFill>
                        <a:srgbClr val="DFE3EB"/>
                      </a:solidFill>
                    </a:lnL>
                    <a:lnR w="12700">
                      <a:solidFill>
                        <a:srgbClr val="DFE3EB"/>
                      </a:solidFill>
                    </a:lnR>
                    <a:lnT w="12700">
                      <a:solidFill>
                        <a:srgbClr val="DFE3EB"/>
                      </a:solidFill>
                    </a:lnT>
                    <a:lnB w="12700">
                      <a:solidFill>
                        <a:srgbClr val="DFE3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74151"/>
                          </a:solidFill>
                          <a:latin typeface="Helvetica Neue"/>
                        </a:rPr>
                        <a:t>Left</a:t>
                      </a:r>
                    </a:p>
                  </a:txBody>
                  <a:tcPr marL="109728" marR="109728" anchor="ctr">
                    <a:lnL w="12700">
                      <a:solidFill>
                        <a:srgbClr val="DFE3EB"/>
                      </a:solidFill>
                    </a:lnL>
                    <a:lnR w="12700">
                      <a:solidFill>
                        <a:srgbClr val="DFE3EB"/>
                      </a:solidFill>
                    </a:lnR>
                    <a:lnT w="12700">
                      <a:solidFill>
                        <a:srgbClr val="DFE3EB"/>
                      </a:solidFill>
                    </a:lnT>
                    <a:lnB w="12700">
                      <a:solidFill>
                        <a:srgbClr val="DFE3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4B5563"/>
                </a:solidFill>
                <a:latin typeface="Helvetica Neue"/>
              </a:rPr>
              <a:t>Source: name the release and file the table comes from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spc="200">
                <a:solidFill>
                  <a:srgbClr val="1F4FAE"/>
                </a:solidFill>
                <a:latin typeface="Helvetica Neue"/>
              </a:rPr>
              <a:t>CHART, 2 TO 4 WORDS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43000"/>
            <a:ext cx="822960" cy="64008"/>
          </a:xfrm>
          <a:prstGeom prst="rect">
            <a:avLst/>
          </a:prstGeom>
          <a:solidFill>
            <a:srgbClr val="1F4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19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1A2332"/>
                </a:solidFill>
                <a:latin typeface="Helvetica Neue"/>
              </a:rPr>
              <a:t>Headline states what the chart shows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26364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>
                <a:solidFill>
                  <a:srgbClr val="6E7581"/>
                </a:solidFill>
                <a:latin typeface="Helvetica Neue"/>
              </a:rPr>
              <a:t>7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22960" y="2514600"/>
          <a:ext cx="1051560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4B5563"/>
                </a:solidFill>
                <a:latin typeface="Helvetica Neue"/>
              </a:rPr>
              <a:t>Source: name the release, such as Answer ALS Release 7 index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spc="200">
                <a:solidFill>
                  <a:srgbClr val="1F4FAE"/>
                </a:solidFill>
                <a:latin typeface="Helvetica Neue"/>
              </a:rPr>
              <a:t>BY THE NUMBERS, 2 TO 4 WORDS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43000"/>
            <a:ext cx="822960" cy="64008"/>
          </a:xfrm>
          <a:prstGeom prst="rect">
            <a:avLst/>
          </a:prstGeom>
          <a:solidFill>
            <a:srgbClr val="1F4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19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1A2332"/>
                </a:solidFill>
                <a:latin typeface="Helvetica Neue"/>
              </a:rPr>
              <a:t>Headline says what the three numbers mean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26364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>
                <a:solidFill>
                  <a:srgbClr val="6E7581"/>
                </a:solidFill>
                <a:latin typeface="Helvetica Neue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1F4FAE"/>
                </a:solidFill>
                <a:latin typeface="Helvetica Neue"/>
              </a:rPr>
              <a:t>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6908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2C3E50"/>
                </a:solidFill>
                <a:latin typeface="Helvetica Neue"/>
              </a:rPr>
              <a:t>Label, 1 to 3 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01752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1F4FAE"/>
                </a:solidFill>
                <a:latin typeface="Helvetica Neue"/>
              </a:rPr>
              <a:t>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406908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2C3E50"/>
                </a:solidFill>
                <a:latin typeface="Helvetica Neue"/>
              </a:rPr>
              <a:t>Label, 1 to 3 words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301752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1F4FAE"/>
                </a:solidFill>
                <a:latin typeface="Helvetica Neue"/>
              </a:rPr>
              <a:t>0.0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406908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2C3E50"/>
                </a:solidFill>
                <a:latin typeface="Helvetica Neue"/>
              </a:rPr>
              <a:t>Label, 1 to 3 words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4B5563"/>
                </a:solidFill>
                <a:latin typeface="Helvetica Neue"/>
              </a:rPr>
              <a:t>Source: published figures only, name where each was published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spc="200">
                <a:solidFill>
                  <a:srgbClr val="1F4FAE"/>
                </a:solidFill>
                <a:latin typeface="Helvetica Neue"/>
              </a:rPr>
              <a:t>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43000"/>
            <a:ext cx="822960" cy="64008"/>
          </a:xfrm>
          <a:prstGeom prst="rect">
            <a:avLst/>
          </a:prstGeom>
          <a:solidFill>
            <a:srgbClr val="1F4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626364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>
                <a:solidFill>
                  <a:srgbClr val="6E7581"/>
                </a:solidFill>
                <a:latin typeface="Helvetica Neue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1F4FAE"/>
                </a:solidFill>
                <a:latin typeface="Helvetica Neue"/>
              </a:rPr>
              <a:t>One sentence the audience should remember, under 15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4B5563"/>
                </a:solidFill>
                <a:latin typeface="Helvetica Neue"/>
              </a:rPr>
              <a:t>Name and role for a quote, or delete this line for a takeaway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FA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nswer-als-logo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85800"/>
            <a:ext cx="685800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83080" y="685800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spc="200">
                <a:solidFill>
                  <a:srgbClr val="C4D9FF"/>
                </a:solidFill>
                <a:latin typeface="Helvetica Neue"/>
              </a:rPr>
              <a:t>Your challenge: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377440"/>
            <a:ext cx="822960" cy="64008"/>
          </a:xfrm>
          <a:prstGeom prst="rect">
            <a:avLst/>
          </a:prstGeom>
          <a:solidFill>
            <a:srgbClr val="C4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FFFFFF"/>
                </a:solidFill>
                <a:latin typeface="Helvetica Neue"/>
              </a:rPr>
              <a:t>Closing: one action the audience takes next, under 10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406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C4D9FF"/>
                </a:solidFill>
                <a:latin typeface="Helvetica Neue"/>
              </a:rPr>
              <a:t>Presenter name and how to reach the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Answer ALS data team</dc:creator>
  <cp:keywords/>
  <dc:description>generated using python-pptx</dc:description>
  <cp:lastModifiedBy>Answer ALS data team</cp:lastModifiedBy>
  <cp:revision>1</cp:revision>
  <dcterms:created xsi:type="dcterms:W3CDTF">2013-01-27T09:14:16Z</dcterms:created>
  <dcterms:modified xsi:type="dcterms:W3CDTF">2013-01-27T09:15:58Z</dcterms:modified>
  <cp:category/>
</cp:coreProperties>
</file>